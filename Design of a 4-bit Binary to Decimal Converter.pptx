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/>
      <p:bold r:id="rId12"/>
    </p:embeddedFont>
    <p:embeddedFont>
      <p:font typeface="Space Grotesk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495925"/>
            <a:ext cx="1097280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495925"/>
            <a:ext cx="10972800" cy="9525"/>
          </a:xfrm>
          <a:prstGeom prst="rect">
            <a:avLst/>
          </a:prstGeom>
          <a:solidFill>
            <a:srgbClr val="2E3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15450" y="5848350"/>
            <a:ext cx="2266950" cy="400050"/>
          </a:xfrm>
          <a:prstGeom prst="roundRect">
            <a:avLst>
              <a:gd name="adj" fmla="val 19047"/>
            </a:avLst>
          </a:prstGeom>
          <a:solidFill>
            <a:srgbClr val="2A352D"/>
          </a:solidFill>
          <a:ln w="9525">
            <a:solidFill>
              <a:srgbClr val="3D4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67425"/>
            <a:ext cx="1524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067425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6067425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75" y="6067425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Space Grotesk"/>
              </a:rPr>
              <a:t>DIGITAL LOGIC DESIGN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62025"/>
            <a:ext cx="970121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CFBF7"/>
                </a:solidFill>
                <a:latin typeface="Space Grotesk"/>
              </a:rPr>
              <a:t>Design of 4-Bit Binary-to-Decimal Conversion &amp; Display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32975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A7F3D0"/>
                </a:solidFill>
                <a:latin typeface="Inter"/>
              </a:rPr>
              <a:t>Combinational Logic Gate Implementation with 7-Segment Display Decoding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5950" y="5943600"/>
            <a:ext cx="1981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7E5E4"/>
                </a:solidFill>
                <a:latin typeface="Inter"/>
              </a:rPr>
              <a:t> 4-Bit BCD Decoder Module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772150"/>
            <a:ext cx="6334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BBF24"/>
                </a:solidFill>
                <a:latin typeface="Inter"/>
              </a:rPr>
              <a:t>PROJECT 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48375"/>
            <a:ext cx="1200150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CFBF7"/>
                </a:solidFill>
                <a:latin typeface="Inter"/>
              </a:rPr>
              <a:t>Vignesh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048375"/>
            <a:ext cx="1371600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CFBF7"/>
                </a:solidFill>
                <a:latin typeface="Inter"/>
              </a:rPr>
              <a:t>Manikanta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9450" y="6048375"/>
            <a:ext cx="1535906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CFBF7"/>
                </a:solidFill>
                <a:latin typeface="Inter"/>
              </a:rPr>
              <a:t>Ram Charan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2975" y="6048375"/>
            <a:ext cx="1209675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CFBF7"/>
                </a:solidFill>
                <a:latin typeface="Inter"/>
              </a:rPr>
              <a:t>Praveen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133600"/>
            <a:ext cx="5257800" cy="1066800"/>
          </a:xfrm>
          <a:prstGeom prst="rect">
            <a:avLst/>
          </a:prstGeom>
          <a:solidFill>
            <a:srgbClr val="F9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390900"/>
            <a:ext cx="5257800" cy="1066800"/>
          </a:xfrm>
          <a:prstGeom prst="rect">
            <a:avLst/>
          </a:prstGeom>
          <a:solidFill>
            <a:srgbClr val="F9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648200"/>
            <a:ext cx="5257800" cy="1066800"/>
          </a:xfrm>
          <a:prstGeom prst="rect">
            <a:avLst/>
          </a:prstGeom>
          <a:solidFill>
            <a:srgbClr val="F9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133600"/>
            <a:ext cx="38100" cy="10668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90900"/>
            <a:ext cx="38100" cy="10668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648200"/>
            <a:ext cx="38100" cy="10668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14550"/>
            <a:ext cx="52578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14550"/>
            <a:ext cx="52578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Space Grotesk"/>
              </a:rPr>
              <a:t>SYSTEM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Project Objectives &amp; Significance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324100"/>
            <a:ext cx="62507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Binary Conversion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609850"/>
            <a:ext cx="4857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Convert 4-bit binary inputs (0000 to 1001) into human-readable decimal digits.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581400"/>
            <a:ext cx="62507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Logic Gate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867150"/>
            <a:ext cx="4857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Synthesize optimized Boolean expressions using AND, OR, and NOT gates.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838700"/>
            <a:ext cx="62507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Hardware Display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124450"/>
            <a:ext cx="4857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Drive a 7-segment LED display using synthesized line-control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8937"/>
            <a:ext cx="2307431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98056" y="2814637"/>
            <a:ext cx="2307431" cy="2295525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86512" y="2928937"/>
            <a:ext cx="2307431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74968" y="2928937"/>
            <a:ext cx="2307431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531" y="3848100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3848100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43" y="3848100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715" y="3205162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171" y="3090862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628" y="3205162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084" y="3205162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8065" y="3338512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521" y="3224212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4503" y="3338512"/>
            <a:ext cx="1714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9146" y="3338512"/>
            <a:ext cx="21907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Space Grotesk"/>
              </a:rP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System Block &amp; Data Flow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596" y="3814762"/>
            <a:ext cx="2503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8181B"/>
                </a:solidFill>
                <a:latin typeface="Inter"/>
              </a:rPr>
              <a:t>4-Bit Binary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202" y="4119562"/>
            <a:ext cx="2384226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2525B"/>
                </a:solidFill>
                <a:latin typeface="Inter"/>
              </a:rPr>
              <a:t>4 toggle lines (D, C, B, A) representing values 0 to 15.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0052" y="3700462"/>
            <a:ext cx="25034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8181B"/>
                </a:solidFill>
                <a:latin typeface="Inter"/>
              </a:rPr>
              <a:t>Decoder Logic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9658" y="4233862"/>
            <a:ext cx="2384226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2525B"/>
                </a:solidFill>
                <a:latin typeface="Inter"/>
              </a:rPr>
              <a:t>Combinational gate array calculating 7 segment functions.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8509" y="3814762"/>
            <a:ext cx="2503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8181B"/>
                </a:solidFill>
                <a:latin typeface="Inter"/>
              </a:rPr>
              <a:t>7 Output 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8114" y="4119562"/>
            <a:ext cx="2384226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2525B"/>
                </a:solidFill>
                <a:latin typeface="Inter"/>
              </a:rPr>
              <a:t>Parallel driver signals mapped from segment 'a' to 'g'.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6965" y="3814762"/>
            <a:ext cx="2503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8181B"/>
                </a:solidFill>
                <a:latin typeface="Inter"/>
              </a:rPr>
              <a:t>7-Segment Display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6571" y="4119562"/>
            <a:ext cx="2384226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2525B"/>
                </a:solidFill>
                <a:latin typeface="Inter"/>
              </a:rPr>
              <a:t>Visual readout rendering decimal numbers 0 through 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2687"/>
            <a:ext cx="6362700" cy="2867025"/>
          </a:xfrm>
          <a:prstGeom prst="roundRect">
            <a:avLst>
              <a:gd name="adj" fmla="val 2657"/>
            </a:avLst>
          </a:prstGeom>
          <a:noFill/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53300" y="2752725"/>
            <a:ext cx="4229100" cy="1057275"/>
          </a:xfrm>
          <a:prstGeom prst="roundRect">
            <a:avLst>
              <a:gd name="adj" fmla="val 720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53300" y="3962400"/>
            <a:ext cx="4229100" cy="1057275"/>
          </a:xfrm>
          <a:prstGeom prst="roundRect">
            <a:avLst>
              <a:gd name="adj" fmla="val 7207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125" y="2462212"/>
          <a:ext cx="6343643" cy="2847975"/>
        </p:xfrm>
        <a:graphic>
          <a:graphicData uri="http://schemas.openxmlformats.org/drawingml/2006/table">
            <a:tbl>
              <a:tblPr/>
              <a:tblGrid>
                <a:gridCol w="1271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2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5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2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95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95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82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07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55996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Inter"/>
                        </a:rPr>
                        <a:t>Decimal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Inter"/>
                        </a:rPr>
                        <a:t>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4D399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4D399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4D399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4D399"/>
                          </a:solidFill>
                          <a:latin typeface="Inter"/>
                        </a:rPr>
                        <a:t>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4D399"/>
                          </a:solidFill>
                          <a:latin typeface="Inter"/>
                        </a:rPr>
                        <a:t>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4D399"/>
                          </a:solidFill>
                          <a:latin typeface="Inter"/>
                        </a:rPr>
                        <a:t>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4D399"/>
                          </a:solidFill>
                          <a:latin typeface="Inter"/>
                        </a:rPr>
                        <a:t>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996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996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996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272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996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27272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996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27272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996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27272A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003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27272A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72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Space Grotesk"/>
              </a:rPr>
              <a:t>TRUTH TABLE &amp; DESIGN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BCD to 7-Segment Output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3325" y="2952750"/>
            <a:ext cx="4638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Inter"/>
              </a:rPr>
              <a:t>Valid Range (0–9)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3325" y="3209925"/>
            <a:ext cx="3924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Inter"/>
              </a:rPr>
              <a:t>Standard BCD combinations map directly to digits 0 through 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3325" y="4162425"/>
            <a:ext cx="4638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Inter"/>
              </a:rPr>
              <a:t>Don't Care States (10–15)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3325" y="4419600"/>
            <a:ext cx="3924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Inter"/>
              </a:rPr>
              <a:t>Binary states 1010 to 1111 leverage K-map don't cares (X) for simplification.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76462"/>
            <a:ext cx="5248275" cy="1104900"/>
          </a:xfrm>
          <a:prstGeom prst="roundRect">
            <a:avLst>
              <a:gd name="adj" fmla="val 6896"/>
            </a:avLst>
          </a:prstGeom>
          <a:solidFill>
            <a:srgbClr val="F9F8F3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71862"/>
            <a:ext cx="5248275" cy="904875"/>
          </a:xfrm>
          <a:prstGeom prst="roundRect">
            <a:avLst>
              <a:gd name="adj" fmla="val 8421"/>
            </a:avLst>
          </a:prstGeom>
          <a:solidFill>
            <a:srgbClr val="F9F8F3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67237"/>
            <a:ext cx="5248275" cy="1104900"/>
          </a:xfrm>
          <a:prstGeom prst="roundRect">
            <a:avLst>
              <a:gd name="adj" fmla="val 6896"/>
            </a:avLst>
          </a:prstGeom>
          <a:solidFill>
            <a:srgbClr val="F9F8F3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Space Grotesk"/>
              </a:rPr>
              <a:t>LOGIC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Karnaugh Map Minimization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376487"/>
            <a:ext cx="63632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K-Map Expression Grouping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681287"/>
            <a:ext cx="4943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Four-variable Karnaugh maps resolve minimal Sum-of-Products (SOP) forms for each output segment.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671887"/>
            <a:ext cx="63632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Representative Expression (Segment 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976687"/>
            <a:ext cx="6060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7857"/>
                </a:solidFill>
                <a:latin typeface="monospace"/>
              </a:rPr>
              <a:t>a = D + B + (C · A) + (C' · A')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767262"/>
            <a:ext cx="63632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Gate Count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5072062"/>
            <a:ext cx="4943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Reduces overall propagation delay and hardware IC package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48425" y="2033587"/>
            <a:ext cx="5133975" cy="1266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48425" y="3490912"/>
            <a:ext cx="5133975" cy="1066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48425" y="4748212"/>
            <a:ext cx="5133975" cy="1066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48425" y="2033587"/>
            <a:ext cx="38100" cy="1266825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48425" y="3490912"/>
            <a:ext cx="38100" cy="10668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48425" y="4748212"/>
            <a:ext cx="38100" cy="10668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14550"/>
            <a:ext cx="5381625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2238375"/>
            <a:ext cx="5133975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Space Grotesk"/>
              </a:rPr>
              <a:t>CIRCUIT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Gate-Level Logic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2224087"/>
            <a:ext cx="5476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Primary Logic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2509837"/>
            <a:ext cx="47339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AND gates for minterm evaluation, OR gates for combining minterms, NOT inverters for bit complements.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681412"/>
            <a:ext cx="5476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Universal Gate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967162"/>
            <a:ext cx="4733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Circuit structures easily adapt to NAND/NOR universal gate implementations for physical chip assembly.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4938712"/>
            <a:ext cx="5476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Parallel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5224462"/>
            <a:ext cx="4733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Combinational logic computes all seven segment states in parallel with minimal gate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05025"/>
            <a:ext cx="5248275" cy="1085850"/>
          </a:xfrm>
          <a:prstGeom prst="roundRect">
            <a:avLst>
              <a:gd name="adj" fmla="val 7017"/>
            </a:avLst>
          </a:prstGeom>
          <a:solidFill>
            <a:srgbClr val="F9F8F3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81375"/>
            <a:ext cx="5248275" cy="1085850"/>
          </a:xfrm>
          <a:prstGeom prst="roundRect">
            <a:avLst>
              <a:gd name="adj" fmla="val 7017"/>
            </a:avLst>
          </a:prstGeom>
          <a:solidFill>
            <a:srgbClr val="F9F8F3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57725"/>
            <a:ext cx="5248275" cy="1085850"/>
          </a:xfrm>
          <a:prstGeom prst="roundRect">
            <a:avLst>
              <a:gd name="adj" fmla="val 7017"/>
            </a:avLst>
          </a:prstGeom>
          <a:solidFill>
            <a:srgbClr val="F9F8F3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209800"/>
            <a:ext cx="5267325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219325"/>
            <a:ext cx="5248275" cy="3409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Space Grotesk"/>
              </a:rPr>
              <a:t>HARDWARE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IC 7447 / 7448 Decoder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305050"/>
            <a:ext cx="63632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7447 BCD Decoder 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590800"/>
            <a:ext cx="4943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Active-LOW output decoder specifically designed for common-anode 7-segment LED displays.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581400"/>
            <a:ext cx="63632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7448 BCD Decoder 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867150"/>
            <a:ext cx="4943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Active-HIGH output decoder specifically designed for common-cathode 7-segment displays.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857750"/>
            <a:ext cx="63632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Control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5143500"/>
            <a:ext cx="4943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Includes Lamp Test (LT), Ripple Blanking Input (RBI), and Blanking Input (BI/RBO).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34125" y="2628900"/>
            <a:ext cx="5248275" cy="1200150"/>
          </a:xfrm>
          <a:prstGeom prst="roundRect">
            <a:avLst>
              <a:gd name="adj" fmla="val 9523"/>
            </a:avLst>
          </a:prstGeom>
          <a:solidFill>
            <a:srgbClr val="F9F8F3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34125" y="4019550"/>
            <a:ext cx="5248275" cy="1200150"/>
          </a:xfrm>
          <a:prstGeom prst="roundRect">
            <a:avLst>
              <a:gd name="adj" fmla="val 9523"/>
            </a:avLst>
          </a:prstGeom>
          <a:solidFill>
            <a:srgbClr val="F9F8F3"/>
          </a:solidFill>
          <a:ln w="9525">
            <a:solidFill>
              <a:srgbClr val="E5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09800"/>
            <a:ext cx="5267325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219325"/>
            <a:ext cx="5248275" cy="340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2886075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4276725"/>
            <a:ext cx="1428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Space Grotesk"/>
              </a:rPr>
              <a:t>DISPLAY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7-Segment Display Configurations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190875"/>
            <a:ext cx="48672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All LED cathodes tied to GND. Activated by HIGH logic signals (1).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4581525"/>
            <a:ext cx="48672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All LED anodes tied to VCC. Activated by LOW logic signals (0).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67025"/>
            <a:ext cx="282535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Common Cathode (CC)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9425" y="4257675"/>
            <a:ext cx="25753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Inter"/>
              </a:rPr>
              <a:t>Common Anode (CA)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2737"/>
            <a:ext cx="3505200" cy="2219325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52737"/>
            <a:ext cx="3505200" cy="2219325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52737"/>
            <a:ext cx="3505200" cy="2219325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670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1670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1670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" y="3290887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50" y="3290887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150" y="3290887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Space Grotesk"/>
              </a:rPr>
              <a:t>APPLICATIONS &amp;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8181B"/>
                </a:solidFill>
                <a:latin typeface="Space Grotesk"/>
              </a:rPr>
              <a:t>Practical Applications &amp;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14762"/>
            <a:ext cx="39754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Inter"/>
              </a:rPr>
              <a:t>Digital Calculators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157662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Converts internal binary computation results into decimal readout numeric displays.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814762"/>
            <a:ext cx="39754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Inter"/>
              </a:rPr>
              <a:t>Digital Multimeters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4157662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Displays measured voltage, current, and resistance decimal values precisely.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814762"/>
            <a:ext cx="387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Inter"/>
              </a:rPr>
              <a:t>Embedded Timers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4157662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Used in microwave appliances, digital clocks, and industrial counters.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157537" y="3948112"/>
            <a:ext cx="5876925" cy="952500"/>
          </a:xfrm>
          <a:prstGeom prst="roundRect">
            <a:avLst>
              <a:gd name="adj" fmla="val 12000"/>
            </a:avLst>
          </a:prstGeom>
          <a:solidFill>
            <a:srgbClr val="2A352D"/>
          </a:solidFill>
          <a:ln w="9525">
            <a:solidFill>
              <a:srgbClr val="3D4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71937" y="1957387"/>
            <a:ext cx="4048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4D399"/>
                </a:solidFill>
                <a:latin typeface="Space Grotesk"/>
              </a:rPr>
              <a:t>PROJECT PRESENTATION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1988" y="2309812"/>
            <a:ext cx="4188023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CFBF7"/>
                </a:solidFill>
                <a:latin typeface="Space Grotesk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4406" y="3319462"/>
            <a:ext cx="26431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A7F3D0"/>
                </a:solidFill>
                <a:latin typeface="Inter"/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11078" y="4186237"/>
            <a:ext cx="6369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BBF24"/>
                </a:solidFill>
                <a:latin typeface="Inter"/>
              </a:rPr>
              <a:t>PRESENTED BY GROUP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5187" y="4462462"/>
            <a:ext cx="9715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CFBF7"/>
                </a:solidFill>
                <a:latin typeface="Inter"/>
              </a:rPr>
              <a:t>Vignesh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7687" y="4462462"/>
            <a:ext cx="371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0112" y="4462462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CFBF7"/>
                </a:solidFill>
                <a:latin typeface="Inter"/>
              </a:rPr>
              <a:t>Manikanta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4062" y="4462462"/>
            <a:ext cx="371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6487" y="4462462"/>
            <a:ext cx="1285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CFBF7"/>
                </a:solidFill>
                <a:latin typeface="Inter"/>
              </a:rPr>
              <a:t>Ram Charan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3312" y="4462462"/>
            <a:ext cx="371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5737" y="4462462"/>
            <a:ext cx="9810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CFBF7"/>
                </a:solidFill>
                <a:latin typeface="Inter"/>
              </a:rPr>
              <a:t>Praveen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586</Words>
  <Application>Microsoft Office PowerPoint</Application>
  <PresentationFormat>Widescreen</PresentationFormat>
  <Paragraphs>178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Space Grotesk</vt:lpstr>
      <vt:lpstr>Inter</vt:lpstr>
      <vt:lpstr>monospace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 p</cp:lastModifiedBy>
  <cp:revision>3</cp:revision>
  <dcterms:created xsi:type="dcterms:W3CDTF">2013-01-27T09:14:16Z</dcterms:created>
  <dcterms:modified xsi:type="dcterms:W3CDTF">2026-10-05T05:45:22Z</dcterms:modified>
  <cp:category/>
</cp:coreProperties>
</file>