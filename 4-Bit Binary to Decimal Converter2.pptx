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Inter"/>
      <p:bold r:id="rId18"/>
    </p:embeddedFont>
    <p:embeddedFont>
      <p:font typeface="JetBrains Mono"/>
      <p:bold r:id="rId19"/>
    </p:embeddedFont>
    <p:embeddedFont>
      <p:font typeface="Space Grotesk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295900"/>
            <a:ext cx="10972800" cy="110490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44050" y="466725"/>
            <a:ext cx="2038350" cy="323850"/>
          </a:xfrm>
          <a:prstGeom prst="roundRect">
            <a:avLst>
              <a:gd name="adj" fmla="val 17647"/>
            </a:avLst>
          </a:prstGeom>
          <a:solidFill>
            <a:srgbClr val="13283F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5715000"/>
            <a:ext cx="971550" cy="485775"/>
          </a:xfrm>
          <a:prstGeom prst="roundRect">
            <a:avLst>
              <a:gd name="adj" fmla="val 15686"/>
            </a:avLst>
          </a:prstGeom>
          <a:solidFill>
            <a:srgbClr val="0F172A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33575" y="5715000"/>
            <a:ext cx="952500" cy="485775"/>
          </a:xfrm>
          <a:prstGeom prst="roundRect">
            <a:avLst>
              <a:gd name="adj" fmla="val 15686"/>
            </a:avLst>
          </a:prstGeom>
          <a:solidFill>
            <a:srgbClr val="0F172A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00375" y="5715000"/>
            <a:ext cx="1076325" cy="485775"/>
          </a:xfrm>
          <a:prstGeom prst="roundRect">
            <a:avLst>
              <a:gd name="adj" fmla="val 15686"/>
            </a:avLst>
          </a:prstGeom>
          <a:solidFill>
            <a:srgbClr val="0F172A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91000" y="5715000"/>
            <a:ext cx="885825" cy="485775"/>
          </a:xfrm>
          <a:prstGeom prst="roundRect">
            <a:avLst>
              <a:gd name="adj" fmla="val 15686"/>
            </a:avLst>
          </a:prstGeom>
          <a:solidFill>
            <a:srgbClr val="0F172A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77400" y="523875"/>
            <a:ext cx="18669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COURSE CODE: 26EC1202E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240458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Inter"/>
              </a:rPr>
              <a:t>CAPSTONE DIGITAL LOGIC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469058"/>
            <a:ext cx="11582400" cy="10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F8FAFC"/>
                </a:solidFill>
                <a:latin typeface="Space Grotesk"/>
              </a:rPr>
              <a:t>4-Bit Binary to Decimal Converter Using Logic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590925"/>
            <a:ext cx="81915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Synthesizing positional binary inputs (0000–1111) into dual-digit decimal readouts (00–15) through K-map optimization, MSI decoders, and TTL hardware realization.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6369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KONERU LAKSHMAIAH EDUCATION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7700"/>
            <a:ext cx="63698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Department of Freshman Engineering / Department of ECE • Academic Year: 2026–27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5495925"/>
            <a:ext cx="5286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PROJECT TEAM MEMBERS: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0150" y="5667375"/>
            <a:ext cx="25241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94A3B8"/>
                </a:solidFill>
                <a:latin typeface="Inter"/>
              </a:rPr>
              <a:t>PROJECT GUIDE: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0150" y="5848350"/>
            <a:ext cx="2524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 u="none">
                <a:solidFill>
                  <a:srgbClr val="F8FAFC"/>
                </a:solidFill>
                <a:latin typeface="Inter"/>
              </a:rPr>
              <a:t>Dr. Venkanna Isampalli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0150" y="6057900"/>
            <a:ext cx="25241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38BDF8"/>
                </a:solidFill>
                <a:latin typeface="Inter"/>
              </a:rPr>
              <a:t>Department of Freshman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5800725"/>
            <a:ext cx="971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Inter"/>
              </a:rPr>
              <a:t>Manikanta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5981700"/>
            <a:ext cx="9715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JetBrains Mono"/>
              </a:rPr>
              <a:t>2620040001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6450" y="5800725"/>
            <a:ext cx="952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Inter"/>
              </a:rPr>
              <a:t>Vignesh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6450" y="5981700"/>
            <a:ext cx="9525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JetBrains Mono"/>
              </a:rPr>
              <a:t>2620030101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3250" y="5800725"/>
            <a:ext cx="10763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Inter"/>
              </a:rPr>
              <a:t>Ram Charan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3250" y="5981700"/>
            <a:ext cx="10763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JetBrains Mono"/>
              </a:rPr>
              <a:t>2620030241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3875" y="5800725"/>
            <a:ext cx="8858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Inter"/>
              </a:rPr>
              <a:t>Praveen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3875" y="5981700"/>
            <a:ext cx="8858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JetBrains Mono"/>
              </a:rPr>
              <a:t>262008019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90787"/>
            <a:ext cx="5610225" cy="2705100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24625" y="2814637"/>
            <a:ext cx="5057775" cy="9525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24625" y="3919537"/>
            <a:ext cx="5057775" cy="9525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24625" y="2814637"/>
            <a:ext cx="38100" cy="952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24625" y="3919537"/>
            <a:ext cx="38100" cy="952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01 • BACKGROUND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767012"/>
            <a:ext cx="663832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Human-Machine Numeric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128962"/>
            <a:ext cx="51530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Digital Computing Core: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Microprocessors, ALUs, and registers process pure binary words (0s and 1s).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05212"/>
            <a:ext cx="51530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Human Readability: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Humans naturally interpret information in standard base-10 decimal numerals.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81462"/>
            <a:ext cx="51530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Conversion Gap: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4 bits yield 16 binary patterns ($0000_2$ to $1111_2$) corresponding to decimal values 0 through 15.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557712"/>
            <a:ext cx="51530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Hardware Focus: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Implements real-time conversion strictly using foundational combinational logic without firmware delay.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3005137"/>
            <a:ext cx="54387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3A8A"/>
                </a:solidFill>
                <a:latin typeface="Inter"/>
              </a:rPr>
              <a:t>Standard Decoders Fail Beyond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3252787"/>
            <a:ext cx="47339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40AF"/>
                </a:solidFill>
                <a:latin typeface="Inter"/>
              </a:rPr>
              <a:t>Standard single BCD-to-7-segment decoders (like 7447) display distorted hex symbols for inputs 10–15.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4110037"/>
            <a:ext cx="54387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92400E"/>
                </a:solidFill>
                <a:latin typeface="Inter"/>
              </a:rPr>
              <a:t>Dual-Digit Hardware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4357687"/>
            <a:ext cx="47339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45309"/>
                </a:solidFill>
                <a:latin typeface="Inter"/>
              </a:rPr>
              <a:t>This project decomposes the 4-bit word into two decimal positions: Tens (0 or 1) and Units (0 through 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85875"/>
            <a:ext cx="2600325" cy="5114925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1285875"/>
            <a:ext cx="2600325" cy="5114925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1285875"/>
            <a:ext cx="2600325" cy="5114925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1285875"/>
            <a:ext cx="2600325" cy="5114925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09912"/>
            <a:ext cx="21240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209925"/>
            <a:ext cx="21240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209925"/>
            <a:ext cx="21240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209925"/>
            <a:ext cx="21240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02 • PROJECT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452812"/>
            <a:ext cx="233029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Binary-to-Decimal Translation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929062"/>
            <a:ext cx="22193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Map all 16 discrete states ($0000_2$ to $1111_2$) into proper base-10 digits across Tens and Units positions.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552825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Boolean Minimization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829050"/>
            <a:ext cx="22193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Formulate complete truth tables and derive minimal Sum-of-Products (SOP) expressions using Karnaugh maps.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552825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Dual 7-Segment Driving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829050"/>
            <a:ext cx="22193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Interface combinational converter outputs with dual 7447 active-low decoders and common anode displays.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552825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Hardware Prototyping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829050"/>
            <a:ext cx="22193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Validate timing and gate delays in Logisim Evolution, then wire and test a functional 5V TTL circuit on breadboard.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47937"/>
            <a:ext cx="1097280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81337"/>
            <a:ext cx="1097280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614737"/>
            <a:ext cx="1097280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148137"/>
            <a:ext cx="1097280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681537"/>
            <a:ext cx="1097280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547937"/>
            <a:ext cx="38100" cy="419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081337"/>
            <a:ext cx="38100" cy="419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614737"/>
            <a:ext cx="38100" cy="419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148137"/>
            <a:ext cx="38100" cy="419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681537"/>
            <a:ext cx="38100" cy="419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03 • PEDAGOGICAL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Course Outcomes (COs)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62237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CO1: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3050" y="2667000"/>
            <a:ext cx="8155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Apply binary number systems, 8-4-2-1 positional weights, and Boolean algebra to digital circuits.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195637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CO2: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3050" y="3200400"/>
            <a:ext cx="8703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Design combinational circuits through Karnaugh map minimization for specified input-output relations.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729037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CO3: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3050" y="3733800"/>
            <a:ext cx="9929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Implement MSI components including BCD decoders (7447) and sequential D-registers (7474) for stable data routing.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262437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CO4: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3050" y="4267200"/>
            <a:ext cx="90130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Simulate, analyze propagation delay, and troubleshoot digital circuit schematics using CAD tools (Logisim).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795837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CO5: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3050" y="4800600"/>
            <a:ext cx="91559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Demonstrate physical hardware interfacing with breadboards, 7-segment displays, and CPU datapath buses.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4162"/>
            <a:ext cx="53721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824162"/>
            <a:ext cx="53721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04 • BILL OF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Components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062287"/>
            <a:ext cx="64258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nter"/>
              </a:rPr>
              <a:t>Digital Integrated Circuits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8425" y="3062287"/>
            <a:ext cx="5743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nter"/>
              </a:rPr>
              <a:t>Displays &amp; Hardware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395662"/>
            <a:ext cx="61198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IC 7408 (Qty: 1):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Quad 2-input AND gate for product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52837"/>
            <a:ext cx="61198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IC 7432 (Qty: 1):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Quad 2-input OR gate for sum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910012"/>
            <a:ext cx="61198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IC 7404 (Qty: 1):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Hex Inverter for complemented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67187"/>
            <a:ext cx="61198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IC 7447 (Qty: 2):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BCD to 7-Segment Decoder /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424362"/>
            <a:ext cx="61198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IC 7474 (Qty: 1):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Dual D Flip-Flop for registered input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3395662"/>
            <a:ext cx="5743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7-Segment Displays (Qty: 2):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Common Anode LED displays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652837"/>
            <a:ext cx="5743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DIP Switch (4-position):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Manual binary input ($B_3, B_2, B_1, B_0$)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910012"/>
            <a:ext cx="5743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Current Limiting Resistors: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$14 \times 330\,\Omega$ (for LED segments)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4167187"/>
            <a:ext cx="5743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Pull-Down Resistors: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$4 \times 10\,\text{k}\Omega$ (for DIP switches)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4424362"/>
            <a:ext cx="5743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Power Supply &amp; Chassis: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+5V DC regulated supply, breadboard &amp; wires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286250"/>
            <a:ext cx="10972800" cy="409575"/>
          </a:xfrm>
          <a:prstGeom prst="roundRect">
            <a:avLst>
              <a:gd name="adj" fmla="val 1860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90850"/>
            <a:ext cx="2264419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55019" y="2990850"/>
            <a:ext cx="2660005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96025" y="2990850"/>
            <a:ext cx="2660005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37030" y="3000375"/>
            <a:ext cx="2245369" cy="1047750"/>
          </a:xfrm>
          <a:prstGeom prst="roundRect">
            <a:avLst>
              <a:gd name="adj" fmla="val 90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319" y="3438525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3438525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330" y="3438525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4414837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6960" y="3190875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1598" y="3190875"/>
            <a:ext cx="26670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1178" y="3190875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0578" y="3190875"/>
            <a:ext cx="23812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05 • SYSTEM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Block Diagram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4410075"/>
            <a:ext cx="111347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Inter"/>
              </a:rPr>
              <a:t>Signal Flow:</a:t>
            </a:r>
            <a:r>
              <a:rPr sz="1050" b="0" i="0" u="none">
                <a:solidFill>
                  <a:srgbClr val="166534"/>
                </a:solidFill>
                <a:latin typeface="Inter"/>
              </a:rPr>
              <a:t> Binary inputs feed combinational logic to separate the Tens bit from the 4-bit Units BCD code before passing to 7447 active-low decoders.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307" y="3476625"/>
            <a:ext cx="259700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4-Bit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141" y="3705225"/>
            <a:ext cx="24733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DIP Switch ($B_3 B_2 B_1 B_0$)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6917" y="3476625"/>
            <a:ext cx="311620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Logic Converter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1113" y="3705225"/>
            <a:ext cx="2967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AND / OR / NOT Gates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7922" y="3476625"/>
            <a:ext cx="311620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Dual 7447 Decoders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2118" y="3705225"/>
            <a:ext cx="2967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Tens &amp; Units Decoders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1212" y="3476625"/>
            <a:ext cx="259700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7-Segment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046" y="3705225"/>
            <a:ext cx="24733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Inter"/>
              </a:rPr>
              <a:t>Decimal "00" to "15"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6157"/>
            <a:ext cx="3479750" cy="1554360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3066157"/>
            <a:ext cx="3479750" cy="1554360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3066157"/>
            <a:ext cx="3479750" cy="1554360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30428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94175" y="330428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40625" y="330428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06 • THEORY OF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Circuit Working 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09082"/>
            <a:ext cx="3098750" cy="773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For binary counts 0000 to 1001, value is single-digit. Tens digit is 0 ($T=0$). Units bits pass directly unchanged ($U_3=B_3, U_2=B_2, U_1=B_1, U_0=B_0$).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4175" y="3609082"/>
            <a:ext cx="3098750" cy="773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For counts 1010 to 1111, Tens digit becomes 1 ($T=1$). Combinational logic subtracts 10 ($1010_2$) from the binary input to produce units digits 0 to 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625" y="3609082"/>
            <a:ext cx="3098750" cy="773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Tens BCD (0 or 1) and Units BCD (0–9) enter dual 7447 decoders, driving active-low common anode displays through 330Ω current-limiting resistors.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3304282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3318569"/>
            <a:ext cx="257532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Transparent Zone (0–9)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1300" y="3304282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8FAFC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8975" y="3318569"/>
            <a:ext cx="271283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Adjustment Zone (10–15)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7750" y="3304282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5425" y="3318569"/>
            <a:ext cx="268783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Segment Drive &amp; Display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3057525"/>
          <a:ext cx="10972795" cy="1691640"/>
        </p:xfrm>
        <a:graphic>
          <a:graphicData uri="http://schemas.openxmlformats.org/drawingml/2006/table">
            <a:tbl>
              <a:tblPr/>
              <a:tblGrid>
                <a:gridCol w="103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8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0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93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91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9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47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6158"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F8FAFC"/>
                          </a:solidFill>
                          <a:latin typeface="Inter"/>
                        </a:rPr>
                        <a:t>Decimal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F8FAFC"/>
                          </a:solidFill>
                          <a:latin typeface="Inter"/>
                        </a:rPr>
                        <a:t>B₃ B₂ B₁ B₀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F8FAFC"/>
                          </a:solidFill>
                          <a:latin typeface="Inter"/>
                        </a:rPr>
                        <a:t>Tens (T)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F8FAFC"/>
                          </a:solidFill>
                          <a:latin typeface="Inter"/>
                        </a:rPr>
                        <a:t>U₃ U₂ U₁ U₀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F8FAFC"/>
                          </a:solidFill>
                          <a:latin typeface="Inter"/>
                        </a:rPr>
                        <a:t>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F8FAFC"/>
                          </a:solidFill>
                          <a:latin typeface="Inter"/>
                        </a:rPr>
                        <a:t>Decimal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F8FAFC"/>
                          </a:solidFill>
                          <a:latin typeface="Inter"/>
                        </a:rPr>
                        <a:t>B₃ B₂ B₁ B₀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F8FAFC"/>
                          </a:solidFill>
                          <a:latin typeface="Inter"/>
                        </a:rPr>
                        <a:t>Tens (T)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F8FAFC"/>
                          </a:solidFill>
                          <a:latin typeface="Inter"/>
                        </a:rPr>
                        <a:t>U₃ U₂ U₁ U₀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F8FAFC"/>
                          </a:solidFill>
                          <a:latin typeface="Inter"/>
                        </a:rPr>
                        <a:t>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158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0 0 0 0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0 0 0 0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"00"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1 0 0 0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1 0 0 0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"08"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158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0 0 0 1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0 0 0 1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"01"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1 0 0 1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1 0 0 1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"09"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158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0 0 1 0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0 0 1 0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"02"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92400E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1 0 1 0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0 0 0 0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000000"/>
                          </a:solidFill>
                          <a:latin typeface="Inter"/>
                        </a:rPr>
                        <a:t>"10"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158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0 0 1 1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0 0 1 1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"03"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1 0 1 1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0 0 0 1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"11"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158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0 1 0 0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0 1 0 0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"04"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1 1 0 0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0 0 1 0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"12"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158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0 1 0 1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0 1 0 1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"05"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1 1 0 1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0 0 1 1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"13"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158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0 1 1 0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0 1 1 0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"06"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1 1 1 0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0 1 0 0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"14"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161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0 1 1 1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0 1 1 1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"07"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1 1 1 1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0 1 0 1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00000"/>
                          </a:solidFill>
                          <a:latin typeface="Inter"/>
                        </a:rPr>
                        <a:t>"15"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07 • TABULAR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Truth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14675"/>
            <a:ext cx="2600325" cy="1419225"/>
          </a:xfrm>
          <a:prstGeom prst="roundRect">
            <a:avLst>
              <a:gd name="adj" fmla="val 67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00387"/>
            <a:ext cx="2600325" cy="1447800"/>
          </a:xfrm>
          <a:prstGeom prst="roundRect">
            <a:avLst>
              <a:gd name="adj" fmla="val 65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190875"/>
            <a:ext cx="2600325" cy="1266825"/>
          </a:xfrm>
          <a:prstGeom prst="roundRect">
            <a:avLst>
              <a:gd name="adj" fmla="val 75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114675"/>
            <a:ext cx="2600325" cy="1419225"/>
          </a:xfrm>
          <a:prstGeom prst="roundRect">
            <a:avLst>
              <a:gd name="adj" fmla="val 67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625" y="3581400"/>
            <a:ext cx="2200275" cy="371475"/>
          </a:xfrm>
          <a:prstGeom prst="roundRect">
            <a:avLst>
              <a:gd name="adj" fmla="val 1538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00450" y="3567112"/>
            <a:ext cx="2200275" cy="552450"/>
          </a:xfrm>
          <a:prstGeom prst="roundRect">
            <a:avLst>
              <a:gd name="adj" fmla="val 1034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91275" y="3657600"/>
            <a:ext cx="2200275" cy="371475"/>
          </a:xfrm>
          <a:prstGeom prst="roundRect">
            <a:avLst>
              <a:gd name="adj" fmla="val 1538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82100" y="3581400"/>
            <a:ext cx="2200275" cy="371475"/>
          </a:xfrm>
          <a:prstGeom prst="roundRect">
            <a:avLst>
              <a:gd name="adj" fmla="val 1538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08 • BOOLEAN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Logic Design &amp; K-Map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305175"/>
            <a:ext cx="2314575" cy="103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Tens Digit (T)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0925" y="3290887"/>
            <a:ext cx="2314575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Units Bit 2 (U₂)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3381375"/>
            <a:ext cx="2314575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Units Bit 1 (U₁)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2575" y="3305175"/>
            <a:ext cx="2314575" cy="103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Units Bit 0 (U₀)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029075"/>
            <a:ext cx="2295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Active for minterms 10, 11, 12, 13, 14, 15.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450" y="4195762"/>
            <a:ext cx="2750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Active for minterms 4, 5, 6, 7, 14, 15.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4105275"/>
            <a:ext cx="2750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Active for minterms 2, 3, 6, 7, 12, 13.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2100" y="4029075"/>
            <a:ext cx="2295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Direct LSB passthrough without gates.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875" y="3676650"/>
            <a:ext cx="25122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JetBrains Mono"/>
              </a:rPr>
              <a:t>T = B₃B₂ + B₃B₁ = B₃(B₂ + B₁)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5700" y="3662362"/>
            <a:ext cx="21050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JetBrains Mono"/>
              </a:rPr>
              <a:t>U₂ = B₂B₃' + B₂B₁ = B₂(B₃' + B₁)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3752850"/>
            <a:ext cx="25122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JetBrains Mono"/>
              </a:rPr>
              <a:t>U₁ = B₃'B₁ + B₃B₂B₁'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3676650"/>
            <a:ext cx="25122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JetBrains Mono"/>
              </a:rPr>
              <a:t>U₀ = B₀   (U₃ = 0 always)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1312"/>
            <a:ext cx="535305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962275"/>
            <a:ext cx="535305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09 • CAD MODELING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Simulation /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119437"/>
            <a:ext cx="6400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Logisim Evolution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7475" y="3200400"/>
            <a:ext cx="57245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Breadboard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33762"/>
            <a:ext cx="6096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✓ Built modular 4-bit converter subcircuit block.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90937"/>
            <a:ext cx="6096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✓ Applied automated truth-table test vectors (0000–1111).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948112"/>
            <a:ext cx="6096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✓ Validated 7-segment segment mapping ($a$ to $g$) without illegal glyphs.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205287"/>
            <a:ext cx="4972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✓ Confirmed boundary transition $9 \rightarrow 10$ with zero race conditions.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3514725"/>
            <a:ext cx="57245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✓ ICs 7408, 7432, 7404, and 7447 socketed across center IC channel.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3771900"/>
            <a:ext cx="57245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✓ Common rails tied to regulated 5.0V DC and system ground.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4029075"/>
            <a:ext cx="57245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✓ $330\,\Omega$ current-limiting resistors protected each display segment.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4286250"/>
            <a:ext cx="57245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✓ Verified full range 00 through 15 with manual DIP inputs.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85875"/>
            <a:ext cx="2600325" cy="5114925"/>
          </a:xfrm>
          <a:prstGeom prst="roundRect">
            <a:avLst>
              <a:gd name="adj" fmla="val 36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1285875"/>
            <a:ext cx="2600325" cy="5114925"/>
          </a:xfrm>
          <a:prstGeom prst="roundRect">
            <a:avLst>
              <a:gd name="adj" fmla="val 36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1285875"/>
            <a:ext cx="2600325" cy="5114925"/>
          </a:xfrm>
          <a:prstGeom prst="roundRect">
            <a:avLst>
              <a:gd name="adj" fmla="val 36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1285875"/>
            <a:ext cx="2600325" cy="5114925"/>
          </a:xfrm>
          <a:prstGeom prst="roundRect">
            <a:avLst>
              <a:gd name="adj" fmla="val 36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19450"/>
            <a:ext cx="21240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119437"/>
            <a:ext cx="21240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300412"/>
            <a:ext cx="21240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300412"/>
            <a:ext cx="21240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10 • SYSTEM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Advantages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43300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Real-Time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19525"/>
            <a:ext cx="22193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Pure combinational translation produces decimal output within propagation delay ($&lt; 25\text{ ns}$) with zero clock cycles.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43287"/>
            <a:ext cx="233029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No Firmware Dependency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919537"/>
            <a:ext cx="22193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Eliminates microcontroller programming, memory footprint, boot time, and code corruption risks.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624262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Low Cost &amp; Simple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900487"/>
            <a:ext cx="22193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Constructed using standard, globally available, inexpensive 74xx TTL series components.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624262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High Educational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900487"/>
            <a:ext cx="22193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Provides clear physical intuition on Boolean algebra, K-maps, decoders, and display driving.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089969"/>
            <a:ext cx="3505200" cy="1506735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43400" y="3186558"/>
            <a:ext cx="3505200" cy="1313408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7200" y="3186558"/>
            <a:ext cx="3505200" cy="1313408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089969"/>
            <a:ext cx="38100" cy="150673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3186558"/>
            <a:ext cx="38100" cy="13134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3186558"/>
            <a:ext cx="38100" cy="13134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11 • ENGINEERING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318569"/>
            <a:ext cx="39504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F1239"/>
                </a:solidFill>
                <a:latin typeface="Inter"/>
              </a:rPr>
              <a:t>Fixed Input Range (0–15)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594794"/>
            <a:ext cx="3105150" cy="773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881337"/>
                </a:solidFill>
                <a:latin typeface="Inter"/>
              </a:rPr>
              <a:t>Architecture strictly decodes 4 binary bits (0 to 15). Cannot convert numbers $\ge 16$ without redesigning combinational logic or adding shift-add-3 modules.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415158"/>
            <a:ext cx="39504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F1239"/>
                </a:solidFill>
                <a:latin typeface="Inter"/>
              </a:rPr>
              <a:t>Wiring &amp; Fan-Out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691383"/>
            <a:ext cx="310515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881337"/>
                </a:solidFill>
                <a:latin typeface="Inter"/>
              </a:rPr>
              <a:t>Direct gate-level implementation requires 14 current-limiting resistors and dozens of point-to-point breadboard jumper connections.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415158"/>
            <a:ext cx="3848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F1239"/>
                </a:solidFill>
                <a:latin typeface="Inter"/>
              </a:rPr>
              <a:t>Switch Contact Bounce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691383"/>
            <a:ext cx="310515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881337"/>
                </a:solidFill>
                <a:latin typeface="Inter"/>
              </a:rPr>
              <a:t>Raw DIP switches create mechanical chatter during toggling, requiring D-register filtering or RC debouncing to prevent display jitter.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67025"/>
            <a:ext cx="5353050" cy="1952625"/>
          </a:xfrm>
          <a:prstGeom prst="roundRect">
            <a:avLst>
              <a:gd name="adj" fmla="val 58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867025"/>
            <a:ext cx="5353050" cy="1952625"/>
          </a:xfrm>
          <a:prstGeom prst="roundRect">
            <a:avLst>
              <a:gd name="adj" fmla="val 58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24200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3124200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12 • REAL-WORLD CONTEXT &amp; UPGRADES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Applications &amp;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105150"/>
            <a:ext cx="6400800" cy="20002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nter"/>
              </a:rPr>
              <a:t>Current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7475" y="3105150"/>
            <a:ext cx="5724525" cy="20002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nter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19475"/>
            <a:ext cx="4972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CPU ALU Output Monitoring: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Direct visual debugging of 4-bit accumulator results without firmware interrupt overhead.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838575"/>
            <a:ext cx="4972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Digital Instrumentation: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Simple frequency counters, token displays, and industrial sensor readouts.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257675"/>
            <a:ext cx="4972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Educational Demonstration: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Lab teaching aid for Boolean algebra and display decoding.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3419475"/>
            <a:ext cx="4972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8-Bit / 16-Bit Double Dabble: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Expand circuit using cascaded add-3 algorithm blocks for larger binary values (0–255).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3838575"/>
            <a:ext cx="4972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FPGA &amp; ASIC Synthesis: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Synthesize using Verilog HDL for integration into System-on-Chip (SoC) peripheral modules.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4257675"/>
            <a:ext cx="4972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Dynamic Display Multiplexing: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Implement high-frequency digit switching using 555 timers to reduce pin count.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8925"/>
            <a:ext cx="10972800" cy="962025"/>
          </a:xfrm>
          <a:prstGeom prst="roundRect">
            <a:avLst>
              <a:gd name="adj" fmla="val 99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43350"/>
            <a:ext cx="5410200" cy="914400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3943350"/>
            <a:ext cx="5410200" cy="914400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176587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13 • SUMMARY OF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8725" y="3028950"/>
            <a:ext cx="10963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Inter"/>
              </a:rPr>
              <a:t>100% Functionally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3267075"/>
            <a:ext cx="102489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5803D"/>
                </a:solidFill>
                <a:latin typeface="Inter"/>
              </a:rPr>
              <a:t>The 4-bit binary to decimal converter successfully decoded all 16 states ($0000_2$ to $1111_2$) into distinct decimal displays "00" through "15" in both simulation and breadboard hardware.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4124325"/>
            <a:ext cx="662582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Theory to Silicon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4371975"/>
            <a:ext cx="5143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Proved that complex base conversions can be solved entirely via gate-level combinational mapping without a CPU.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175" y="4124325"/>
            <a:ext cx="5838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Complete Curriculum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175" y="4371975"/>
            <a:ext cx="5143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Demonstrated mastery across all course outcomes: binary systems, K-maps, decoders, registers, and CAD verification.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97497"/>
            <a:ext cx="6328469" cy="2453580"/>
          </a:xfrm>
          <a:prstGeom prst="roundRect">
            <a:avLst>
              <a:gd name="adj" fmla="val 46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04769" y="2909887"/>
            <a:ext cx="437763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3822352"/>
            <a:ext cx="5852219" cy="99060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347" y="3148012"/>
            <a:ext cx="752475" cy="857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859434"/>
            <a:ext cx="295275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14 • OPEN SOURCE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21397"/>
            <a:ext cx="5947469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The repository contains all project deliverables, open-source schematic files, and documentation for replication.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936652"/>
            <a:ext cx="5718869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├── circuit_schematic.circ (Logisim-Evolution)</a:t>
            </a:r>
            <a:r>
              <a:t>
</a:t>
            </a:r>
            <a:r>
              <a:rPr sz="900" b="0" i="0" u="none">
                <a:solidFill>
                  <a:srgbClr val="38BDF8"/>
                </a:solidFill>
                <a:latin typeface="JetBrains Mono"/>
              </a:rPr>
              <a:t> ├── truth_table_verification.csv</a:t>
            </a:r>
            <a:r>
              <a:t>
</a:t>
            </a:r>
            <a:r>
              <a:rPr sz="900" b="0" i="0" u="none">
                <a:solidFill>
                  <a:srgbClr val="38BDF8"/>
                </a:solidFill>
                <a:latin typeface="JetBrains Mono"/>
              </a:rPr>
              <a:t> ├── poster_a3_expo.html</a:t>
            </a:r>
            <a:r>
              <a:t>
</a:t>
            </a:r>
            <a:r>
              <a:rPr sz="900" b="0" i="0" u="none">
                <a:solidFill>
                  <a:srgbClr val="38BDF8"/>
                </a:solidFill>
                <a:latin typeface="JetBrains Mono"/>
              </a:rPr>
              <a:t> ├── presentation_slides.html</a:t>
            </a:r>
            <a:r>
              <a:t>
</a:t>
            </a:r>
            <a:r>
              <a:rPr sz="900" b="0" i="0" u="none">
                <a:solidFill>
                  <a:srgbClr val="38BDF8"/>
                </a:solidFill>
                <a:latin typeface="JetBrains Mono"/>
              </a:rPr>
              <a:t> └── README.md (Bill of Materials &amp; Pinouts)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03" y="4119562"/>
            <a:ext cx="512056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Scan to Access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5221" y="4348162"/>
            <a:ext cx="48767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Full documentation, circuit diagrams, and project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2835622"/>
            <a:ext cx="69008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Project Source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300" y="3026122"/>
            <a:ext cx="6572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JetBrains Mono"/>
              </a:rPr>
              <a:t>https://github.com/manikanta-2620040001/4bit-binary-decimal-converter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76675" y="3771900"/>
            <a:ext cx="990600" cy="495300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19675" y="3771900"/>
            <a:ext cx="990600" cy="495300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62675" y="3771900"/>
            <a:ext cx="1076325" cy="495300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91400" y="3771900"/>
            <a:ext cx="923925" cy="495300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8156" y="2124075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Space Grotesk"/>
              </a:rPr>
              <a:t>PROJECT PRESENTATION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7041" y="2428875"/>
            <a:ext cx="3337917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F8FAFC"/>
                </a:solidFill>
                <a:latin typeface="Space Grotesk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0593" y="3238500"/>
            <a:ext cx="269081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8781" y="4572000"/>
            <a:ext cx="8834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Guide: Dr. Venkanna Isampalli • Department of Freshman Engineering • Koneru Lakshmaiah Education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848100"/>
            <a:ext cx="9715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Manikanta </a:t>
            </a:r>
            <a:r>
              <a:rPr sz="825" b="1" i="0" u="none">
                <a:solidFill>
                  <a:srgbClr val="38BDF8"/>
                </a:solidFill>
                <a:latin typeface="Inter"/>
              </a:rPr>
              <a:t>2620040001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848100"/>
            <a:ext cx="9715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 dirty="0">
                <a:solidFill>
                  <a:srgbClr val="F1F5F9"/>
                </a:solidFill>
                <a:latin typeface="Inter"/>
              </a:rPr>
              <a:t>Vignesh </a:t>
            </a:r>
            <a:endParaRPr lang="en-IN" sz="975" b="1" i="0" u="none" dirty="0">
              <a:solidFill>
                <a:srgbClr val="F1F5F9"/>
              </a:solidFill>
              <a:latin typeface="Inter"/>
            </a:endParaRPr>
          </a:p>
          <a:p>
            <a:pPr algn="ctr"/>
            <a:r>
              <a:rPr sz="825" b="1" i="0" u="none" dirty="0">
                <a:solidFill>
                  <a:srgbClr val="38BDF8"/>
                </a:solidFill>
                <a:latin typeface="Inter"/>
              </a:rPr>
              <a:t>2620030101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848100"/>
            <a:ext cx="10572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Ram Charan </a:t>
            </a:r>
            <a:r>
              <a:rPr sz="825" b="1" i="0" u="none">
                <a:solidFill>
                  <a:srgbClr val="38BDF8"/>
                </a:solidFill>
                <a:latin typeface="Inter"/>
              </a:rPr>
              <a:t>2620030241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0925" y="3848100"/>
            <a:ext cx="9048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 dirty="0">
                <a:solidFill>
                  <a:srgbClr val="F1F5F9"/>
                </a:solidFill>
                <a:latin typeface="Inter"/>
              </a:rPr>
              <a:t>Praveen </a:t>
            </a:r>
            <a:r>
              <a:rPr sz="825" b="1" i="0" u="none" dirty="0">
                <a:solidFill>
                  <a:srgbClr val="38BDF8"/>
                </a:solidFill>
                <a:latin typeface="Inter"/>
              </a:rPr>
              <a:t>2620080</a:t>
            </a:r>
            <a:r>
              <a:rPr lang="en-IN" sz="825" b="1" i="0" u="none" dirty="0">
                <a:solidFill>
                  <a:srgbClr val="38BDF8"/>
                </a:solidFill>
                <a:latin typeface="Inter"/>
              </a:rPr>
              <a:t>0</a:t>
            </a:r>
            <a:r>
              <a:rPr sz="825" b="1" i="0" u="none" dirty="0">
                <a:solidFill>
                  <a:srgbClr val="38BDF8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1829</Words>
  <Application>Microsoft Office PowerPoint</Application>
  <PresentationFormat>Widescreen</PresentationFormat>
  <Paragraphs>258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Space Grotesk</vt:lpstr>
      <vt:lpstr>Inter</vt:lpstr>
      <vt:lpstr>JetBrains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VIGNESH p</cp:lastModifiedBy>
  <cp:revision>2</cp:revision>
  <dcterms:created xsi:type="dcterms:W3CDTF">2013-01-27T09:14:16Z</dcterms:created>
  <dcterms:modified xsi:type="dcterms:W3CDTF">2026-10-14T17:51:05Z</dcterms:modified>
  <cp:category/>
</cp:coreProperties>
</file>