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008791"/>
                </a:solidFill>
                <a:latin typeface="Aptos"/>
              </a:defRPr>
            </a:pPr>
            <a:r>
              <a:t>KONERU LAKSHMAIAH EDUCATION FOUNDATION  •  KLEF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102A56"/>
                </a:solidFill>
                <a:latin typeface="Aptos"/>
              </a:defRPr>
            </a:pPr>
            <a:r>
              <a:t>4-Bit Binary-to-Decimal</a:t>
            </a:r>
          </a:p>
          <a:p>
            <a:pPr algn="ctr">
              <a:spcAft>
                <a:spcPts val="400"/>
              </a:spcAft>
              <a:defRPr sz="3200" b="1">
                <a:solidFill>
                  <a:srgbClr val="102A56"/>
                </a:solidFill>
                <a:latin typeface="Aptos"/>
              </a:defRPr>
            </a:pPr>
            <a:r>
              <a:t>Converter and Display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4183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700" b="0">
                <a:solidFill>
                  <a:srgbClr val="5D6C7E"/>
                </a:solidFill>
                <a:latin typeface="Aptos"/>
              </a:defRPr>
            </a:pPr>
            <a:r>
              <a:t>Digital Design using Logic Gates • DDCA • Course 26EC1202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10332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47872"/>
            <a:ext cx="47548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791"/>
                </a:solidFill>
                <a:latin typeface="Aptos"/>
              </a:defRPr>
            </a:pPr>
            <a:r>
              <a:t>PROJECT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977639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S. Manikanta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77639"/>
            <a:ext cx="21031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D3A"/>
                </a:solidFill>
                <a:latin typeface="Aptos"/>
              </a:defRPr>
            </a:pPr>
            <a:r>
              <a:t>2620040001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9" y="3977639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P. Vignesh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77639"/>
            <a:ext cx="21031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D3A"/>
                </a:solidFill>
                <a:latin typeface="Aptos"/>
              </a:defRPr>
            </a:pPr>
            <a:r>
              <a:t>2620030101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90288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S. Ram Charan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590288"/>
            <a:ext cx="21031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D3A"/>
                </a:solidFill>
                <a:latin typeface="Aptos"/>
              </a:defRPr>
            </a:pPr>
            <a:r>
              <a:t>2620030241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590288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S. B. Praveen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590288"/>
            <a:ext cx="21031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D3A"/>
                </a:solidFill>
                <a:latin typeface="Aptos"/>
              </a:defRPr>
            </a:pPr>
            <a:r>
              <a:t>2620080019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10912"/>
            <a:ext cx="9601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Project Guide: Dr. Venkanna Isampalli  •  Department of Freshman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02A56"/>
                </a:solidFill>
                <a:latin typeface="Aptos"/>
              </a:defRPr>
            </a:pPr>
            <a:r>
              <a:t>FINAL CAPSTONE DEMONSTRATION  |  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02A56"/>
                </a:solidFill>
                <a:latin typeface="Aptos"/>
              </a:defRPr>
            </a:pPr>
            <a:r>
              <a:t>Introduction and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27080" y="6510528"/>
            <a:ext cx="731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35204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73152" cy="1298448"/>
          </a:xfrm>
          <a:prstGeom prst="rect">
            <a:avLst/>
          </a:prstGeom>
          <a:solidFill>
            <a:srgbClr val="B0302C"/>
          </a:solidFill>
          <a:ln w="12700">
            <a:solidFill>
              <a:srgbClr val="B0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92224"/>
            <a:ext cx="326440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A 4-bit binary input can represent 0–15. A single BCD display decoder cannot directly show every 4-bit value as a decimal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53312"/>
            <a:ext cx="35204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53312"/>
            <a:ext cx="73152" cy="1298448"/>
          </a:xfrm>
          <a:prstGeom prst="rect">
            <a:avLst/>
          </a:prstGeom>
          <a:solidFill>
            <a:srgbClr val="008791"/>
          </a:solidFill>
          <a:ln w="1270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63040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92224"/>
            <a:ext cx="326440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Convert the 4-bit input into two BCD digits: tens and units, then send each digit to its own seven-segment display.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353312"/>
            <a:ext cx="35204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353312"/>
            <a:ext cx="73152" cy="1298448"/>
          </a:xfrm>
          <a:prstGeom prst="rect">
            <a:avLst/>
          </a:prstGeom>
          <a:solidFill>
            <a:srgbClr val="2563AA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7" y="1463040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792224"/>
            <a:ext cx="326440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Build and test a combinational logic circuit that displays decimal values 00–15 without a microcontroller.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5120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HOW THE DATA 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2194560" cy="102412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40480"/>
            <a:ext cx="2048255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4-bit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224528"/>
            <a:ext cx="2048255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B3 B2 B1 B0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3657600"/>
            <a:ext cx="2331720" cy="102412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3840480"/>
            <a:ext cx="2185415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Binary → BCD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4224528"/>
            <a:ext cx="2185415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Tens + Units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657600"/>
            <a:ext cx="1828800" cy="102412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3840480"/>
            <a:ext cx="168249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BCD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4224528"/>
            <a:ext cx="168249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Two decoders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657600"/>
            <a:ext cx="1920240" cy="102412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1F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3840480"/>
            <a:ext cx="177393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2A56"/>
                </a:solidFill>
                <a:latin typeface="Aptos"/>
              </a:defRPr>
            </a:pPr>
            <a:r>
              <a:t>Displays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4224528"/>
            <a:ext cx="177393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00–15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971800" y="4169663"/>
            <a:ext cx="73152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26480" y="4169663"/>
            <a:ext cx="73152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4169663"/>
            <a:ext cx="64008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22D3A"/>
                </a:solidFill>
                <a:latin typeface="Aptos"/>
              </a:defRPr>
            </a:pPr>
            <a:r>
              <a:t>Expected result: every input pattern from 0000 through 1111 maps to its decimal value, including the boundary transition from 9 to 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02 • BOOLEAN LOGIC AND 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02A56"/>
                </a:solidFill>
                <a:latin typeface="Aptos"/>
              </a:defRPr>
            </a:pPr>
            <a:r>
              <a:t>Theory and Logic Circuit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27080" y="6510528"/>
            <a:ext cx="731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212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BASIC LOGIC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2578608" cy="7498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92224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Inverts one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19072"/>
            <a:ext cx="2578608" cy="7498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810512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92224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A·B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112264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1 only when both inputs are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43200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24912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A +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044952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1 when at least one input is 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651760"/>
            <a:ext cx="25786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743200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XOR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24912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A ⊕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044952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1 when inputs differ.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84448"/>
            <a:ext cx="2578608" cy="7498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7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NAND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657600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¬(A·B)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77639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Complement of 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584448"/>
            <a:ext cx="2578608" cy="7498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675887"/>
            <a:ext cx="71323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NOR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657600"/>
            <a:ext cx="15544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Y = ¬(A+B)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3977639"/>
            <a:ext cx="2359152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222D3A"/>
                </a:solidFill>
                <a:latin typeface="Aptos"/>
              </a:defRPr>
            </a:pPr>
            <a:r>
              <a:t>Complement of 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13258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53619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CONVERSION LOGIC (B3 MSB … B0 LSB)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965960"/>
            <a:ext cx="46634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02A56"/>
                </a:solidFill>
                <a:latin typeface="Aptos"/>
              </a:defRPr>
            </a:pPr>
            <a:r>
              <a:t>T = B3(B2 + B1)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40864"/>
            <a:ext cx="46634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T = 1 for input values 10–15; otherwise T = 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907792"/>
            <a:ext cx="46634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U3 = 0     U2 = B2·¬B3 + B2·B1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73552"/>
            <a:ext cx="46634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U2 is the 4's bit of the units digit.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22191"/>
            <a:ext cx="466344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U1 = ¬B3·B1 + B3·B2·¬B1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87952"/>
            <a:ext cx="4663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U0 = B0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17720"/>
            <a:ext cx="45720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22D3A"/>
                </a:solidFill>
                <a:latin typeface="Aptos"/>
              </a:defRPr>
            </a:pPr>
            <a:r>
              <a:t>T is the tens digit's 1-bit BCD value. The units output is U3 U2 U1 U0. NOT gates provide complemented signals; AND/OR combinations implement the equations.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83480"/>
            <a:ext cx="52120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D6C7E"/>
                </a:solidFill>
                <a:latin typeface="Aptos"/>
              </a:defRPr>
            </a:pPr>
            <a:r>
              <a:t>A combinational circuit has no stored state: the output is determined by the current input combination.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03 •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02A56"/>
                </a:solidFill>
                <a:latin typeface="Aptos"/>
              </a:defRPr>
            </a:pPr>
            <a:r>
              <a:t>Circuit Design in Logisim Evolution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27080" y="6510528"/>
            <a:ext cx="731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08791"/>
                </a:solidFill>
                <a:latin typeface="Aptos"/>
              </a:defRPr>
            </a:pPr>
            <a:r>
              <a:t>BUILD THE SYSTEM AS FOUR CONNECTED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965960" cy="141732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130552"/>
            <a:ext cx="17830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496312"/>
            <a:ext cx="178308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4 switches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B3 B2 B1 B0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965960"/>
            <a:ext cx="2423160" cy="141732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130552"/>
            <a:ext cx="224027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LOGIC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96312"/>
            <a:ext cx="2240279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NOT + AND + OR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Binary → BCD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214884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73351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TENS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39112"/>
            <a:ext cx="1965960" cy="73151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BCD input: 000T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7-segment 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46120"/>
            <a:ext cx="214884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410712"/>
            <a:ext cx="1965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UNITS 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76472"/>
            <a:ext cx="1965960" cy="73151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BCD input: U3U2U1U0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7-segment driver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08760"/>
            <a:ext cx="224028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1F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73351"/>
            <a:ext cx="2057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TENS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039112"/>
            <a:ext cx="2057400" cy="73151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Shows 0 or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246120"/>
            <a:ext cx="224028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1F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410712"/>
            <a:ext cx="2057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02A56"/>
                </a:solidFill>
                <a:latin typeface="Aptos"/>
              </a:defRPr>
            </a:pPr>
            <a:r>
              <a:t>UNITS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776472"/>
            <a:ext cx="2057400" cy="73151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Shows 0–9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06040" y="2670048"/>
            <a:ext cx="5486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2670048"/>
            <a:ext cx="27432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52160" y="2167128"/>
            <a:ext cx="0" cy="50292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52160" y="2167128"/>
            <a:ext cx="3200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2670048"/>
            <a:ext cx="0" cy="1234439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" y="3904487"/>
            <a:ext cx="32004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21040" y="2167128"/>
            <a:ext cx="8229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21040" y="3904487"/>
            <a:ext cx="822960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" y="41605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315968"/>
            <a:ext cx="4572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08791"/>
                </a:solidFill>
                <a:latin typeface="Aptos"/>
              </a:defRPr>
            </a:pPr>
            <a:r>
              <a:t>EXAMPLE: INPUT 1111₂ = DECIMAL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45152"/>
            <a:ext cx="45720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Tens BCD = 0001  •  Units BCD = 0101  •  Display =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983480"/>
            <a:ext cx="50292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In Logisim Evolution, use input pins/switches, gates, splitters if needed, and two seven-segment displays. Add a decoder block or build its logic explicitly.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04 •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02A56"/>
                </a:solidFill>
                <a:latin typeface="Aptos"/>
              </a:defRPr>
            </a:pPr>
            <a:r>
              <a:t>Simulation Results and Truth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27080" y="6510528"/>
            <a:ext cx="731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08791"/>
                </a:solidFill>
                <a:latin typeface="Aptos"/>
              </a:defRPr>
            </a:pPr>
            <a:r>
              <a:t>EXPECTED INPUT–OUTPUT MAPPING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6400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554480"/>
                <a:gridCol w="1325880"/>
                <a:gridCol w="1325880"/>
                <a:gridCol w="1143000"/>
              </a:tblGrid>
              <a:tr h="51598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Decimal</a:t>
                      </a:r>
                    </a:p>
                  </a:txBody>
                  <a:tcPr marL="36576" marR="36576" marT="18288" marB="18288" anchor="ctr">
                    <a:solidFill>
                      <a:srgbClr val="10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B3 B2 B1 B0</a:t>
                      </a:r>
                    </a:p>
                  </a:txBody>
                  <a:tcPr marL="36576" marR="36576" marT="18288" marB="18288" anchor="ctr">
                    <a:solidFill>
                      <a:srgbClr val="10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Tens BCD</a:t>
                      </a:r>
                    </a:p>
                  </a:txBody>
                  <a:tcPr marL="36576" marR="36576" marT="18288" marB="18288" anchor="ctr">
                    <a:solidFill>
                      <a:srgbClr val="10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 BCD</a:t>
                      </a:r>
                    </a:p>
                  </a:txBody>
                  <a:tcPr marL="36576" marR="36576" marT="18288" marB="18288" anchor="ctr">
                    <a:solidFill>
                      <a:srgbClr val="10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Display</a:t>
                      </a:r>
                    </a:p>
                  </a:txBody>
                  <a:tcPr marL="36576" marR="36576" marT="18288" marB="18288" anchor="ctr">
                    <a:solidFill>
                      <a:srgbClr val="102A56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0101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0101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1001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1001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09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1010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1100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0010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18288" marB="18288" anchor="ctr">
                    <a:solidFill>
                      <a:srgbClr val="EFF5FB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1111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0101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22D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737360"/>
            <a:ext cx="3657600" cy="14173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38528"/>
            <a:ext cx="32004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8791"/>
                </a:solidFill>
                <a:latin typeface="Aptos"/>
              </a:defRPr>
            </a:pPr>
            <a:r>
              <a:t>TEST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40864"/>
            <a:ext cx="31546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Toggle all 16 input patterns (0000–1111) and compare both display digits with the expected decimal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2900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639312"/>
            <a:ext cx="32004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02A56"/>
                </a:solidFill>
                <a:latin typeface="Aptos"/>
              </a:defRPr>
            </a:pPr>
            <a:r>
              <a:t>BOUNDARY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041648"/>
            <a:ext cx="31546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Check 1001₂ = 09 and 1010₂ = 10. This verifies the conversion changes correctly after decimal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6070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B0302C"/>
                </a:solidFill>
                <a:latin typeface="Aptos"/>
              </a:defRPr>
            </a:pPr>
            <a:r>
              <a:t>Note: The table gives expected functional results. Replace/add actual Logisim screenshots after running the circuit in your installed 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05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02A56"/>
                </a:solidFill>
                <a:latin typeface="Aptos"/>
              </a:defRPr>
            </a:pPr>
            <a:r>
              <a:t>Conclusion and Applications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25400">
            <a:solidFill>
              <a:srgbClr val="008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27080" y="6510528"/>
            <a:ext cx="7315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6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008791"/>
          </a:solidFill>
          <a:ln w="12700"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2"/>
            <a:ext cx="32644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A combinational logic design maps all 16 possible 4-bit inputs to decimal values 00–15 using BCD and dual-digit display stages.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2563AA"/>
          </a:solidFill>
          <a:ln w="1270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27048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56232"/>
            <a:ext cx="32644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Digital counters, measurement instruments, calculator displays, embedded panels, and teaching digital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417320"/>
          </a:xfrm>
          <a:prstGeom prst="rect">
            <a:avLst/>
          </a:prstGeom>
          <a:solidFill>
            <a:srgbClr val="D79722"/>
          </a:solidFill>
          <a:ln w="12700">
            <a:solidFill>
              <a:srgbClr val="D7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527048"/>
            <a:ext cx="32644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02A56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856232"/>
            <a:ext cx="32644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22D3A"/>
                </a:solidFill>
                <a:latin typeface="Aptos"/>
              </a:defRPr>
            </a:pPr>
            <a:r>
              <a:t>Reduce gate count with K-map minimization, add a fully verified Logisim testbench, and extend the design to larger input widths.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08791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24528"/>
            <a:ext cx="1005840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02A56"/>
                </a:solidFill>
                <a:latin typeface="Aptos"/>
              </a:defRPr>
            </a:pPr>
            <a:r>
              <a:t>Logic gates provide the conversion logic; BCD decoder/driver stages translate each decimal digit into the seven-segment pattern.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5D6C7E"/>
                </a:solidFill>
                <a:latin typeface="Aptos"/>
              </a:defRPr>
            </a:pPr>
            <a:r>
              <a:t>Thank you •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